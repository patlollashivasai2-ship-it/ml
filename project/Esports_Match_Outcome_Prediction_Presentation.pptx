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8778240" y="-1097280"/>
            <a:ext cx="5486400" cy="5486400"/>
          </a:xfrm>
          <a:prstGeom prst="rect">
            <a:avLst/>
          </a:prstGeom>
          <a:solidFill>
            <a:srgbClr val="1B1B3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2926080" cy="2926080"/>
          </a:xfrm>
          <a:prstGeom prst="ellipse">
            <a:avLst/>
          </a:prstGeom>
          <a:solidFill>
            <a:srgbClr val="E9456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48640"/>
            <a:ext cx="1828800" cy="1828800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 |  DEPARTMENT OF COMPUTER SCIENCE &amp; ENGINEERING  |  B.TECH CSE (2026–27)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CAPSTONE PRESENTATION  •  DEEP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Esports Match Outcome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Using Deep Learning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Analytics Architecture Powered by LSTM, CNN &amp; Transformer-Based Deep Learning Models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6035040" cy="1600200"/>
          </a:xfrm>
          <a:prstGeom prst="roundRect">
            <a:avLst>
              <a:gd name="adj" fmla="val 4571"/>
            </a:avLst>
          </a:prstGeom>
          <a:solidFill>
            <a:srgbClr val="1B1B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MEMBERS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Rohan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2520030513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Shiva Sai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2520030596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B.Tech II-Year CSE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452628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1B1B3A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&amp; COURSE INSTRUCTOR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4983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Nirmala Jyothi Narisetty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Guide &amp; Mentor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Jyothsna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Instructor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 |  DEPARTMENT OF COMPUTER SCIENCE &amp; ENGINEERING  |  B.TECH CSE (2026–27)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 Project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EEF1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10512"/>
            <a:ext cx="457200" cy="45720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Domain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organizations, broadcasters, and coaching staff need accurate, real-time predictions of match outcomes to drive viewer engagement, in-game strategy, and fair analytics.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statistical analysis is slow, misses dynamic in-game states, and cannot capture non-linear momentum shifts hidden in live telemetry.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06440" y="155448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EEF1F8"/>
          </a:solidFill>
          <a:ln/>
        </p:spPr>
      </p:sp>
      <p:sp>
        <p:nvSpPr>
          <p:cNvPr id="11" name="Shape 9"/>
          <p:cNvSpPr/>
          <p:nvPr/>
        </p:nvSpPr>
        <p:spPr>
          <a:xfrm>
            <a:off x="6080760" y="1810512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Solution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80760" y="23774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engineered an automated predictive framework using advanced deep learning architectures.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integrating LSTM, CNN, and Transformer-based attention models, the system delivers high-precision, real-time win-probability forecasting from live game-state streams.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0378440" cy="1600200"/>
          </a:xfrm>
          <a:prstGeom prst="roundRect">
            <a:avLst>
              <a:gd name="adj" fmla="val 4571"/>
            </a:avLst>
          </a:prstGeom>
          <a:solidFill>
            <a:srgbClr val="12122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FINDING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645152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Sequence Models Dominate over Classical Baselines: Recurrent and attention-based architectures significantly outperform individual statistical baselines by effectively capturing temporal momentum, player synergy patterns, and non-linearly separable game-state interactions across live match telemetry.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 |  DEPARTMENT OF COMPUTER SCIENCE &amp; ENGINEERING  |  B.TECH CSE (2026–27)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Impact &amp; Operational Challenges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0378440" cy="1170432"/>
          </a:xfrm>
          <a:prstGeom prst="roundRect">
            <a:avLst>
              <a:gd name="adj" fmla="val 4688"/>
            </a:avLst>
          </a:prstGeom>
          <a:solidFill>
            <a:srgbClr val="EEF1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11096"/>
            <a:ext cx="548640" cy="54864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11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1554480" y="17099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in Player &amp; Team Performance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03911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stats-based models rely on linear boundaries and fail to capture momentum swings and non-linear synergy effects between players, leading to poor predictive accuracy.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0378440" cy="1170432"/>
          </a:xfrm>
          <a:prstGeom prst="roundRect">
            <a:avLst>
              <a:gd name="adj" fmla="val 4688"/>
            </a:avLst>
          </a:prstGeom>
          <a:solidFill>
            <a:srgbClr val="EEF1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191256"/>
            <a:ext cx="548640" cy="54864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1554480" y="29900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&amp; Data Sparsity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331927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outcomes (stomps vs. close games) are unevenly represented, and some champions/heroes are rarely picked, causing models to bias heavily toward majority-pattern predictions.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0378440" cy="1170432"/>
          </a:xfrm>
          <a:prstGeom prst="roundRect">
            <a:avLst>
              <a:gd name="adj" fmla="val 4688"/>
            </a:avLst>
          </a:prstGeom>
          <a:solidFill>
            <a:srgbClr val="EEF1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471416"/>
            <a:ext cx="548640" cy="54864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71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1554480" y="42702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Latency Constraints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59943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Broadcasters and coaching tools require sub-second predictions during live matches; legacy statistical pipelines are far too slow to update at match pace.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0378440" cy="1170432"/>
          </a:xfrm>
          <a:prstGeom prst="roundRect">
            <a:avLst>
              <a:gd name="adj" fmla="val 4688"/>
            </a:avLst>
          </a:prstGeom>
          <a:solidFill>
            <a:srgbClr val="EEF1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751576"/>
            <a:ext cx="548640" cy="548640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751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1554480" y="55504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Objective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587959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sequence modeling (LSTM/GRU) with spatial pattern recognition (CNN on minimap grids) and attention fusion to optimize Accuracy, F1, and ROC-AUC on live match-state streams.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 |  DEPARTMENT OF COMPUTER SCIENCE &amp; ENGINEERING  |  B.TECH CSE (2026–27)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&amp; Player Attributes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EEF1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411480" cy="41148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141732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&amp; Team Attributes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514600"/>
            <a:ext cx="109728" cy="10972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23774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Skill Rating: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/ Elo continuous indicator.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172968"/>
            <a:ext cx="109728" cy="10972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30358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K/D/A &amp; Win Rate: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kill/death/assist and win-rate profile.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831336"/>
            <a:ext cx="109728" cy="10972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36941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Champion/Hero Pick: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role and draft selection.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489704"/>
            <a:ext cx="109728" cy="10972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35254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Synergy Score: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composite of teammate interactions.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5148072"/>
            <a:ext cx="109728" cy="109728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501091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Record: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performance vs. opponent team.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06440" y="16002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EEF1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0760" y="1828800"/>
            <a:ext cx="411480" cy="41148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667512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In-Game &amp; Temporal Attributes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26480" y="2514600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4" name="Text 22"/>
          <p:cNvSpPr/>
          <p:nvPr/>
        </p:nvSpPr>
        <p:spPr>
          <a:xfrm>
            <a:off x="6373368" y="23774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Gold/XP Differential: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lead tracked over game time.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172968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303580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Control: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Towers, dragons/objectives secured.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831336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8" name="Text 26"/>
          <p:cNvSpPr/>
          <p:nvPr/>
        </p:nvSpPr>
        <p:spPr>
          <a:xfrm>
            <a:off x="6373368" y="36941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Positioning: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score and spatial map control.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4489704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73368" y="435254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Time / Phase: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Early, mid, or late-game match segment.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5148072"/>
            <a:ext cx="109728" cy="109728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501091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Indicator: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streaks and comeback probability factor.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 |  DEPARTMENT OF COMPUTER SCIENCE &amp; ENGINEERING  |  B.TECH CSE (2026–27)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Sequence Preprocessing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91840" cy="2240280"/>
          </a:xfrm>
          <a:prstGeom prst="roundRect">
            <a:avLst>
              <a:gd name="adj" fmla="val 3265"/>
            </a:avLst>
          </a:prstGeom>
          <a:solidFill>
            <a:srgbClr val="EEF1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&amp; Normalization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telemetry values imputed via forward-fill / KNNImputer. Features scaled with MinMaxScaler for stable gradient flow.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069080" y="1600200"/>
            <a:ext cx="3291840" cy="2240280"/>
          </a:xfrm>
          <a:prstGeom prst="roundRect">
            <a:avLst>
              <a:gd name="adj" fmla="val 3265"/>
            </a:avLst>
          </a:prstGeom>
          <a:solidFill>
            <a:srgbClr val="EEF1F8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28800"/>
            <a:ext cx="502920" cy="5029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4297680" y="24505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97680" y="2971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nominal fields (Champion, Map, Role). Embedding layers for high-cardinality IDs (Player ID, Hero ID).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589520" y="1600200"/>
            <a:ext cx="3291840" cy="2240280"/>
          </a:xfrm>
          <a:prstGeom prst="roundRect">
            <a:avLst>
              <a:gd name="adj" fmla="val 3265"/>
            </a:avLst>
          </a:prstGeom>
          <a:solidFill>
            <a:srgbClr val="EEF1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1828800"/>
            <a:ext cx="502920" cy="5029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7818120" y="24505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Windowing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818120" y="2971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timeline segmented into fixed-length time-step windows (game-state snapshots) feeding LSTM / Transformer inputs.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0378440" cy="1691640"/>
          </a:xfrm>
          <a:prstGeom prst="roundRect">
            <a:avLst>
              <a:gd name="adj" fmla="val 4324"/>
            </a:avLst>
          </a:prstGeom>
          <a:solidFill>
            <a:srgbClr val="1212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79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SEQUENCE CONSTRUCTION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5902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 = [ s_(t-w+1), ..., s_t ]     where  w = window size,  s_t = game-state vector at time 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temporal dependencies across recent game states, feeding the LSTM/Transformer encoder for real-time outcome prediction.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 |  DEPARTMENT OF COMPUTER SCIENCE &amp; ENGINEERING  |  B.TECH CSE (2026–27)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Architectures Implemented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1B1B3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7B61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Network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Sequence Modeling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long-range temporal dependencies in match momentum via gated memory cells — effective for modeling win-probability evolution across game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169164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1B1B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96596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4340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4340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Pattern Extraction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388620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spatial features from minimap / heatmap representations of player positioning and map control using convolutional filters.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89520" y="169164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1B1B3A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196596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86384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+ Attention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6384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Ensemble Fusion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388620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LSTM and CNN embeddings via multi-head self-attention to weigh critical game-state moments and produce the final win-probability output.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 |  DEPARTMENT OF COMPUTER SCIENCE &amp; ENGINEERING  |  B.TECH CSE (2026–27)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Accuracy &amp; Metric Highlights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EEF1F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B61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Transformer Model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06908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6908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ROC Curve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EEF1F8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94.3%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58952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Upset Recall Rate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8952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Underdog-Win Identification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0378440" cy="1965960"/>
          </a:xfrm>
          <a:prstGeom prst="roundRect">
            <a:avLst>
              <a:gd name="adj" fmla="val 3721"/>
            </a:avLst>
          </a:prstGeom>
          <a:solidFill>
            <a:srgbClr val="12122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RISK-METRIC PRIORITY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live esports outcome prediction, False Negatives (failing to flag an underdog / upset win) undermine broadcast credibility and betting-odds reliability compared to False Positives.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optimized Hybrid Transformer model achieves a high 94.3% Recall on upset outcomes, safeguarding prediction trust during high-stakes live matches.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 |  DEPARTMENT OF COMPUTER SCIENCE &amp; ENGINEERING  |  B.TECH CSE (2026–27)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Evaluation Table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378440" cy="2834640"/>
        </p:xfrm>
        <a:graphic>
          <a:graphicData uri="http://schemas.openxmlformats.org/drawingml/2006/table">
            <a:tbl>
              <a:tblPr/>
              <a:tblGrid>
                <a:gridCol w="4160520"/>
                <a:gridCol w="1554480"/>
                <a:gridCol w="1554480"/>
                <a:gridCol w="1554480"/>
                <a:gridCol w="1554480"/>
              </a:tblGrid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Architecture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21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Transformer (LSTM+CNN+Attention)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1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9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(Minimap-Based)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09160"/>
            <a:ext cx="10378440" cy="1051560"/>
          </a:xfrm>
          <a:prstGeom prst="roundRect">
            <a:avLst>
              <a:gd name="adj" fmla="val 6957"/>
            </a:avLst>
          </a:prstGeom>
          <a:solidFill>
            <a:srgbClr val="EEF1F8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4828032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hybrid attention-fusion architecture yields a +3.3% accuracy gain over the standalone LSTM and a +18.1% enhancement over the baseline Logistic Regression model.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 |  DEPARTMENT OF COMPUTER SCIENCE &amp; ENGINEERING  |  B.TECH CSE (2026–27)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&amp; System Requirements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37844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3200400"/>
                <a:gridCol w="4800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/ 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 &amp; Functionality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 / Jupyter Notebook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programming language and interactive experimental environment.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Frameworks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/ Keras, PyTorch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construction, GPU-accelerated training, hyperparameter tuning.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Wrangling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NumPy, OpenCV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 manipulation, feature transformation, minimap frame processing.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Matplotlib, Seaborn, TensorBoard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EDA, confusion-matrix heatmaps, ROC curves, training-loss tracking.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Hardware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GPU (RTX 3060+) / 16GB RAM / 50GB Disk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hardware capable of deep-model training and real-time inference.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DEEMED TO BE UNIVERSITY  |  DEPARTMENT OF COMPUTER SCIENCE &amp; ENGINEERING  |  B.TECH CSE (2026–27)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4-Stage Project Development Lifecycle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51560" y="3337560"/>
            <a:ext cx="9692640" cy="0"/>
          </a:xfrm>
          <a:prstGeom prst="line">
            <a:avLst/>
          </a:prstGeom>
          <a:noFill/>
          <a:ln w="25400">
            <a:solidFill>
              <a:srgbClr val="3A3F6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51560" y="3063240"/>
            <a:ext cx="548640" cy="548640"/>
          </a:xfrm>
          <a:prstGeom prst="ellipse">
            <a:avLst/>
          </a:prstGeom>
          <a:solidFill>
            <a:srgbClr val="7B61FF"/>
          </a:solidFill>
          <a:ln w="38100">
            <a:solidFill>
              <a:srgbClr val="121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1B1B3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892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match telemetry / replay data, missing-value audit, univariate EDA.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03320" y="3063240"/>
            <a:ext cx="548640" cy="548640"/>
          </a:xfrm>
          <a:prstGeom prst="ellipse">
            <a:avLst/>
          </a:prstGeom>
          <a:solidFill>
            <a:srgbClr val="00D9FF"/>
          </a:solidFill>
          <a:ln w="38100">
            <a:solidFill>
              <a:srgbClr val="121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384048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1B1B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4251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Sequence Pipeline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29000" y="4892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Normalization, embeddings, categorical encoding, sliding-window construction.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3063240"/>
            <a:ext cx="548640" cy="548640"/>
          </a:xfrm>
          <a:prstGeom prst="ellipse">
            <a:avLst/>
          </a:prstGeom>
          <a:solidFill>
            <a:srgbClr val="E94560"/>
          </a:solidFill>
          <a:ln w="38100">
            <a:solidFill>
              <a:srgbClr val="1212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2160" y="384048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1B1B3A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80760" y="4251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80760" y="4892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LSTM/CNN/Transformer training, RandomizedSearchCV tuning, K-Fold validation.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06840" y="3063240"/>
            <a:ext cx="548640" cy="548640"/>
          </a:xfrm>
          <a:prstGeom prst="ellipse">
            <a:avLst/>
          </a:prstGeom>
          <a:solidFill>
            <a:srgbClr val="2ED9A3"/>
          </a:solidFill>
          <a:ln w="38100">
            <a:solidFill>
              <a:srgbClr val="1212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03920" y="384048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1B1B3A"/>
          </a:solidFill>
          <a:ln/>
        </p:spPr>
      </p:sp>
      <p:sp>
        <p:nvSpPr>
          <p:cNvPr id="27" name="Text 25"/>
          <p:cNvSpPr/>
          <p:nvPr/>
        </p:nvSpPr>
        <p:spPr>
          <a:xfrm>
            <a:off x="8732520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32520" y="4251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 &amp; Evaluation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732520" y="4892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fusion, metric analysis, live real-time inference testing.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114800" cy="4114800"/>
          </a:xfrm>
          <a:prstGeom prst="ellipse">
            <a:avLst/>
          </a:prstGeom>
          <a:solidFill>
            <a:srgbClr val="1B1B3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E9456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ANY QUESTIONS?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Year 2026–27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1B1B3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MEMBERS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K. Rohan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Roll No: 2520030513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P. Shiva Sai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Roll No: 2520030596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283464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1B1B3A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DETAILS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336499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Deep Learning (B.Tech II-Year CSE)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KL Deemed to be University, Hyderabad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4297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of the Guide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(Dr. Nirmala Jyothi Narisetty)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3640" y="48920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Instructor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(D. Jyothsna)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Match Outcome Prediction Using Deep Learning  •  Academic Capstone Presentation  •  Slide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2026-08-25T06:44:18Z</dcterms:created>
  <dcterms:modified xsi:type="dcterms:W3CDTF">2026-08-25T06:44:18Z</dcterms:modified>
</cp:coreProperties>
</file>